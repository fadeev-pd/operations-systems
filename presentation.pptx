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74" r:id="rId1"/>
  </p:sldMasterIdLst>
  <p:notesMasterIdLst>
    <p:notesMasterId r:id="rId10"/>
  </p:notesMasterIdLst>
  <p:sldIdLst>
    <p:sldId id="256" r:id="rId2"/>
    <p:sldId id="257" r:id="rId3"/>
    <p:sldId id="258" r:id="rId4"/>
    <p:sldId id="260" r:id="rId5"/>
    <p:sldId id="263" r:id="rId6"/>
    <p:sldId id="261" r:id="rId7"/>
    <p:sldId id="264" r:id="rId8"/>
    <p:sldId id="266" r:id="rId9"/>
  </p:sldIdLst>
  <p:sldSz cx="12192000" cy="6858000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591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01750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016143-E03C-4CFD-AFDC-14E5BDEA754C}" type="datetimeFigureOut">
              <a:rPr lang="en-US" smtClean="0"/>
              <a:t>4/21/2026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2299607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9FD0C-5451-4CA0-86AF-E70AE3279989}" type="datetimeFigureOut">
              <a:rPr lang="en-US" smtClean="0"/>
              <a:t>4/21/2026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615123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A7C6C-0F39-4D70-8E8D-FE5B9C95FA73}" type="datetimeFigureOut">
              <a:rPr lang="en-US" smtClean="0"/>
              <a:t>4/21/2026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2330267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9FD0C-5451-4CA0-86AF-E70AE3279989}" type="datetimeFigureOut">
              <a:rPr lang="en-US" smtClean="0"/>
              <a:t>4/21/2026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5914615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9FD0C-5451-4CA0-86AF-E70AE3279989}" type="datetimeFigureOut">
              <a:rPr lang="en-US" smtClean="0"/>
              <a:t>4/21/2026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415303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70639-886C-4FCF-9EAB-ABB5DA3F3F4A}" type="datetimeFigureOut">
              <a:rPr lang="en-US" smtClean="0"/>
              <a:t>4/21/2026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4393184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30651-31F4-45D2-98AE-A2108F41BC07}" type="datetimeFigureOut">
              <a:rPr lang="en-US" smtClean="0"/>
              <a:t>4/21/2026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57550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9FD0C-5451-4CA0-86AF-E70AE3279989}" type="datetimeFigureOut">
              <a:rPr lang="en-US" smtClean="0"/>
              <a:t>4/21/2026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2885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440AA-91A0-436F-8FDB-C0F939DCAE21}" type="datetimeFigureOut">
              <a:rPr lang="en-US" smtClean="0"/>
              <a:t>4/21/2026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178120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9FD0C-5451-4CA0-86AF-E70AE3279989}" type="datetimeFigureOut">
              <a:rPr lang="en-US" smtClean="0"/>
              <a:t>4/21/2026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4422278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9FD0C-5451-4CA0-86AF-E70AE3279989}" type="datetimeFigureOut">
              <a:rPr lang="en-US" smtClean="0"/>
              <a:t>4/21/2026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4531744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9FD0C-5451-4CA0-86AF-E70AE3279989}" type="datetimeFigureOut">
              <a:rPr lang="en-US" smtClean="0"/>
              <a:t>4/21/2026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9867886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9FD0C-5451-4CA0-86AF-E70AE3279989}" type="datetimeFigureOut">
              <a:rPr lang="en-US" smtClean="0"/>
              <a:t>4/21/2026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46224339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9FD0C-5451-4CA0-86AF-E70AE3279989}" type="datetimeFigureOut">
              <a:rPr lang="en-US" smtClean="0"/>
              <a:t>4/21/2026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9603896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9FD0C-5451-4CA0-86AF-E70AE3279989}" type="datetimeFigureOut">
              <a:rPr lang="en-US" smtClean="0"/>
              <a:t>4/21/2026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2688739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9FD0C-5451-4CA0-86AF-E70AE3279989}" type="datetimeFigureOut">
              <a:rPr lang="en-US" smtClean="0"/>
              <a:t>4/21/2026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050028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57178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59FD0C-5451-4CA0-86AF-E70AE3279989}" type="datetimeFigureOut">
              <a:rPr lang="en-US" smtClean="0"/>
              <a:t>4/21/2026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84307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5" r:id="rId1"/>
    <p:sldLayoutId id="2147483876" r:id="rId2"/>
    <p:sldLayoutId id="2147483877" r:id="rId3"/>
    <p:sldLayoutId id="2147483878" r:id="rId4"/>
    <p:sldLayoutId id="2147483879" r:id="rId5"/>
    <p:sldLayoutId id="2147483880" r:id="rId6"/>
    <p:sldLayoutId id="2147483881" r:id="rId7"/>
    <p:sldLayoutId id="2147483882" r:id="rId8"/>
    <p:sldLayoutId id="2147483883" r:id="rId9"/>
    <p:sldLayoutId id="2147483884" r:id="rId10"/>
    <p:sldLayoutId id="2147483885" r:id="rId11"/>
    <p:sldLayoutId id="2147483886" r:id="rId12"/>
    <p:sldLayoutId id="2147483887" r:id="rId13"/>
    <p:sldLayoutId id="2147483888" r:id="rId14"/>
    <p:sldLayoutId id="2147483889" r:id="rId15"/>
    <p:sldLayoutId id="2147483890" r:id="rId16"/>
    <p:sldLayoutId id="2147483891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6234545" y="4987636"/>
            <a:ext cx="7481455" cy="4322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400" dirty="0"/>
          </a:p>
        </p:txBody>
      </p:sp>
      <p:sp>
        <p:nvSpPr>
          <p:cNvPr id="5" name="Text 1"/>
          <p:cNvSpPr/>
          <p:nvPr/>
        </p:nvSpPr>
        <p:spPr>
          <a:xfrm>
            <a:off x="1479176" y="1438102"/>
            <a:ext cx="9233647" cy="15588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 err="1">
                <a:solidFill>
                  <a:srgbClr val="000000"/>
                </a:solidFill>
              </a:rPr>
              <a:t>Вопросы</a:t>
            </a:r>
            <a:r>
              <a:rPr lang="en-US" sz="3200" b="1" dirty="0">
                <a:solidFill>
                  <a:srgbClr val="000000"/>
                </a:solidFill>
              </a:rPr>
              <a:t> </a:t>
            </a:r>
            <a:r>
              <a:rPr lang="en-US" sz="3200" b="1" dirty="0" err="1">
                <a:solidFill>
                  <a:srgbClr val="000000"/>
                </a:solidFill>
              </a:rPr>
              <a:t>проектирования</a:t>
            </a:r>
            <a:r>
              <a:rPr lang="en-US" sz="3200" b="1" dirty="0">
                <a:solidFill>
                  <a:srgbClr val="000000"/>
                </a:solidFill>
              </a:rPr>
              <a:t> </a:t>
            </a:r>
            <a:r>
              <a:rPr lang="en-US" sz="3200" b="1" dirty="0" err="1">
                <a:solidFill>
                  <a:srgbClr val="000000"/>
                </a:solidFill>
              </a:rPr>
              <a:t>операционных</a:t>
            </a:r>
            <a:r>
              <a:rPr lang="en-US" sz="3200" b="1" dirty="0">
                <a:solidFill>
                  <a:srgbClr val="000000"/>
                </a:solidFill>
              </a:rPr>
              <a:t> </a:t>
            </a:r>
            <a:r>
              <a:rPr lang="en-US" sz="3200" b="1" dirty="0" err="1">
                <a:solidFill>
                  <a:srgbClr val="000000"/>
                </a:solidFill>
              </a:rPr>
              <a:t>систем</a:t>
            </a:r>
            <a:endParaRPr lang="en-US" sz="3200" dirty="0"/>
          </a:p>
        </p:txBody>
      </p:sp>
      <p:sp>
        <p:nvSpPr>
          <p:cNvPr id="6" name="Text 2"/>
          <p:cNvSpPr/>
          <p:nvPr/>
        </p:nvSpPr>
        <p:spPr>
          <a:xfrm>
            <a:off x="9757675" y="5585977"/>
            <a:ext cx="1358561" cy="6453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ru-RU" sz="1400" dirty="0">
                <a:solidFill>
                  <a:srgbClr val="000000"/>
                </a:solidFill>
              </a:rPr>
              <a:t>Фадеев Павел</a:t>
            </a:r>
          </a:p>
          <a:p>
            <a:pPr marL="0" indent="0" algn="l">
              <a:lnSpc>
                <a:spcPts val="2000"/>
              </a:lnSpc>
              <a:buNone/>
            </a:pPr>
            <a:r>
              <a:rPr lang="ru-RU" sz="1400" dirty="0">
                <a:solidFill>
                  <a:srgbClr val="000000"/>
                </a:solidFill>
              </a:rPr>
              <a:t>Прд4510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18566" y="171120"/>
            <a:ext cx="10141528" cy="5817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000000"/>
                </a:solidFill>
              </a:rPr>
              <a:t>Многопроцессорные системы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618566" y="977153"/>
            <a:ext cx="6974540" cy="39713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6000" indent="0" algn="l">
              <a:spcBef>
                <a:spcPts val="600"/>
              </a:spcBef>
              <a:buNone/>
            </a:pPr>
            <a:r>
              <a:rPr lang="ru-RU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</a:p>
          <a:p>
            <a:pPr marL="36000" indent="0" algn="l">
              <a:spcBef>
                <a:spcPts val="600"/>
              </a:spcBef>
              <a:buNone/>
            </a:pPr>
            <a:r>
              <a:rPr lang="ru-RU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sz="24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Многопроцессорные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системы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представляют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собой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вычислительные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комплексы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4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включающие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несколько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центральных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процессоров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(ЦП), которые могут работать </a:t>
            </a:r>
            <a:r>
              <a:rPr lang="en-US" sz="24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параллельно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ru-RU" sz="24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6000">
              <a:spcBef>
                <a:spcPts val="600"/>
              </a:spcBef>
            </a:pPr>
            <a:r>
              <a:rPr lang="ru-RU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sz="24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Примером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могут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служить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серверы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с 8–16 </a:t>
            </a:r>
            <a:r>
              <a:rPr lang="en-US" sz="24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ядрами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4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обеспечивающие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производительность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на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уровне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нескольких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десятков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тысяч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операций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в </a:t>
            </a:r>
            <a:r>
              <a:rPr lang="en-US" sz="24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секунду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36000" indent="0" algn="l">
              <a:spcBef>
                <a:spcPts val="600"/>
              </a:spcBef>
              <a:buNone/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618566" y="2218764"/>
            <a:ext cx="6974540" cy="2420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6000">
              <a:spcBef>
                <a:spcPts val="600"/>
              </a:spcBef>
            </a:pPr>
            <a:endParaRPr lang="en-US" sz="24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681319" y="3765176"/>
            <a:ext cx="7584140" cy="34376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831273" y="5818909"/>
            <a:ext cx="7481455" cy="4322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400" dirty="0"/>
          </a:p>
        </p:txBody>
      </p:sp>
      <p:sp>
        <p:nvSpPr>
          <p:cNvPr id="5" name="Text 1"/>
          <p:cNvSpPr/>
          <p:nvPr/>
        </p:nvSpPr>
        <p:spPr>
          <a:xfrm>
            <a:off x="714732" y="314761"/>
            <a:ext cx="5985092" cy="5817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err="1">
                <a:solidFill>
                  <a:srgbClr val="000000"/>
                </a:solidFill>
              </a:rPr>
              <a:t>Многоядерные</a:t>
            </a:r>
            <a:r>
              <a:rPr lang="en-US" sz="3200" b="1">
                <a:solidFill>
                  <a:srgbClr val="000000"/>
                </a:solidFill>
              </a:rPr>
              <a:t> системы</a:t>
            </a:r>
            <a:endParaRPr lang="en-US" sz="3200" dirty="0"/>
          </a:p>
        </p:txBody>
      </p:sp>
      <p:sp>
        <p:nvSpPr>
          <p:cNvPr id="6" name="Text 2"/>
          <p:cNvSpPr/>
          <p:nvPr/>
        </p:nvSpPr>
        <p:spPr>
          <a:xfrm>
            <a:off x="564778" y="1318628"/>
            <a:ext cx="7747950" cy="29396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6000" indent="0">
              <a:spcBef>
                <a:spcPts val="600"/>
              </a:spcBef>
              <a:buNone/>
            </a:pPr>
            <a:r>
              <a:rPr lang="ru-RU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sz="24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Многоядерные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системы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представляют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собой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эффективный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способ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увеличения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производительности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вычислительных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систем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ru-RU" sz="24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6000">
              <a:spcBef>
                <a:spcPts val="600"/>
              </a:spcBef>
            </a:pPr>
            <a:r>
              <a:rPr lang="ru-RU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sz="24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Современные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процессоры</a:t>
            </a:r>
            <a:r>
              <a:rPr lang="ru-RU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могут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содержать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до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10 </a:t>
            </a:r>
            <a:r>
              <a:rPr lang="en-US" sz="24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ядер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4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что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позволяет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обрабатывать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до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20 </a:t>
            </a:r>
            <a:r>
              <a:rPr lang="en-US" sz="24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потоков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одновременно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1400" dirty="0"/>
          </a:p>
          <a:p>
            <a:pPr marL="0" indent="0" algn="l">
              <a:buNone/>
            </a:pP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714731" y="2278787"/>
            <a:ext cx="5818909" cy="931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5818909" y="5818909"/>
            <a:ext cx="7481455" cy="4322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400" dirty="0"/>
          </a:p>
        </p:txBody>
      </p:sp>
      <p:sp>
        <p:nvSpPr>
          <p:cNvPr id="5" name="Text 1"/>
          <p:cNvSpPr/>
          <p:nvPr/>
        </p:nvSpPr>
        <p:spPr>
          <a:xfrm>
            <a:off x="260791" y="116522"/>
            <a:ext cx="6848221" cy="9806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2800" b="1" dirty="0">
                <a:solidFill>
                  <a:srgbClr val="000000"/>
                </a:solidFill>
              </a:rPr>
              <a:t>С</a:t>
            </a:r>
            <a:r>
              <a:rPr lang="en-US" sz="2800" b="1" dirty="0" err="1">
                <a:solidFill>
                  <a:srgbClr val="000000"/>
                </a:solidFill>
              </a:rPr>
              <a:t>имметричн</a:t>
            </a:r>
            <a:r>
              <a:rPr lang="ru-RU" sz="2800" b="1" dirty="0" err="1">
                <a:solidFill>
                  <a:srgbClr val="000000"/>
                </a:solidFill>
              </a:rPr>
              <a:t>ая</a:t>
            </a:r>
            <a:r>
              <a:rPr lang="en-US" sz="2800" b="1" dirty="0">
                <a:solidFill>
                  <a:srgbClr val="000000"/>
                </a:solidFill>
              </a:rPr>
              <a:t> </a:t>
            </a:r>
            <a:r>
              <a:rPr lang="en-US" sz="2800" b="1" dirty="0" err="1">
                <a:solidFill>
                  <a:srgbClr val="000000"/>
                </a:solidFill>
              </a:rPr>
              <a:t>многопроцессорност</a:t>
            </a:r>
            <a:r>
              <a:rPr lang="ru-RU" sz="2800" b="1" dirty="0">
                <a:solidFill>
                  <a:srgbClr val="000000"/>
                </a:solidFill>
              </a:rPr>
              <a:t>ь</a:t>
            </a:r>
            <a:endParaRPr lang="en-US" sz="2800" dirty="0"/>
          </a:p>
        </p:txBody>
      </p:sp>
      <p:sp>
        <p:nvSpPr>
          <p:cNvPr id="6" name="Text 2"/>
          <p:cNvSpPr/>
          <p:nvPr/>
        </p:nvSpPr>
        <p:spPr>
          <a:xfrm>
            <a:off x="403412" y="923366"/>
            <a:ext cx="9663953" cy="56925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6000">
              <a:spcBef>
                <a:spcPts val="600"/>
              </a:spcBef>
            </a:pPr>
            <a:r>
              <a:rPr lang="ru-RU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SMP можно определить как изолированную компьютерную систему, обладающую следующими характеристиками.</a:t>
            </a:r>
          </a:p>
          <a:p>
            <a:pPr marL="36000">
              <a:spcBef>
                <a:spcPts val="600"/>
              </a:spcBef>
            </a:pPr>
            <a:r>
              <a:rPr lang="ru-RU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Имеется не менее двух похожих процессоров со сравнимыми возможностями.</a:t>
            </a:r>
          </a:p>
          <a:p>
            <a:pPr marL="36000">
              <a:spcBef>
                <a:spcPts val="600"/>
              </a:spcBef>
            </a:pPr>
            <a:r>
              <a:rPr lang="ru-RU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Эти процессоры используют одну и ту же основную память и устройства ввода-вывода и соединены шиной или иной схемой внутреннего соединения, так что время доступа к памяти оказывается примерно одинаковым для каждого процессора.</a:t>
            </a:r>
          </a:p>
          <a:p>
            <a:pPr marL="36000">
              <a:spcBef>
                <a:spcPts val="600"/>
              </a:spcBef>
            </a:pPr>
            <a:r>
              <a:rPr lang="ru-RU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Все процессоры имеют общий доступ к устройствам ввода-вывода либо через одни и те же каналы, либо через различные каналы, которые обеспечивают пути к одному устройству.</a:t>
            </a:r>
          </a:p>
          <a:p>
            <a:pPr marL="36000">
              <a:spcBef>
                <a:spcPts val="600"/>
              </a:spcBef>
            </a:pPr>
            <a:r>
              <a:rPr lang="ru-RU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 Все процессоры могут выполнять одни и те же функции (отсюда и термин симметричная).</a:t>
            </a:r>
          </a:p>
          <a:p>
            <a:pPr marL="36000">
              <a:spcBef>
                <a:spcPts val="600"/>
              </a:spcBef>
            </a:pPr>
            <a:r>
              <a:rPr lang="ru-RU" sz="18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5. Система управляется интегрированной операционной системой, которая обеспечивает взаимодействие между процессорами и их программами на уровне задач, заданий, файлов и элементов данных.</a:t>
            </a:r>
            <a:endParaRPr lang="ru-RU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6000" indent="0">
              <a:spcBef>
                <a:spcPts val="600"/>
              </a:spcBef>
              <a:buNone/>
            </a:pP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Симметричная </a:t>
            </a:r>
            <a:r>
              <a:rPr lang="en-US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многопроцессорность</a:t>
            </a: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позволяет</a:t>
            </a: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системе</a:t>
            </a: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эффективно</a:t>
            </a: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использовать</a:t>
            </a: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несколько</a:t>
            </a: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центральных</a:t>
            </a: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процессоров</a:t>
            </a: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для</a:t>
            </a: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выполнения</a:t>
            </a: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задач</a:t>
            </a: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ru-RU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6000">
              <a:spcBef>
                <a:spcPts val="600"/>
              </a:spcBef>
            </a:pP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В </a:t>
            </a:r>
            <a:r>
              <a:rPr lang="en-US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такой</a:t>
            </a: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архитектуре</a:t>
            </a: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каждый</a:t>
            </a: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процессор</a:t>
            </a: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имеет</a:t>
            </a: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доступ</a:t>
            </a: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ко</a:t>
            </a: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всей</a:t>
            </a: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оперативной</a:t>
            </a: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памяти</a:t>
            </a: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и </a:t>
            </a:r>
            <a:r>
              <a:rPr lang="en-US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может</a:t>
            </a: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выполнять</a:t>
            </a: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любые</a:t>
            </a: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задачи</a:t>
            </a: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что</a:t>
            </a: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обеспечивает</a:t>
            </a: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высокую</a:t>
            </a: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гибкость</a:t>
            </a: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и </a:t>
            </a:r>
            <a:r>
              <a:rPr lang="en-US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масштабируемость</a:t>
            </a: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  <a:endParaRPr lang="ru-RU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 3"/>
          <p:cNvSpPr/>
          <p:nvPr/>
        </p:nvSpPr>
        <p:spPr>
          <a:xfrm>
            <a:off x="565591" y="2981539"/>
            <a:ext cx="5818909" cy="19285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42697" y="202563"/>
            <a:ext cx="5016160" cy="5817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2800" b="1" dirty="0">
                <a:solidFill>
                  <a:srgbClr val="000000"/>
                </a:solidFill>
              </a:rPr>
              <a:t>Организация SMP</a:t>
            </a:r>
            <a:endParaRPr lang="en-US" sz="2800" b="1" dirty="0">
              <a:solidFill>
                <a:srgbClr val="000000"/>
              </a:solidFill>
            </a:endParaRPr>
          </a:p>
        </p:txBody>
      </p:sp>
      <p:sp>
        <p:nvSpPr>
          <p:cNvPr id="4" name="Text 1"/>
          <p:cNvSpPr/>
          <p:nvPr/>
        </p:nvSpPr>
        <p:spPr>
          <a:xfrm>
            <a:off x="342696" y="1089213"/>
            <a:ext cx="9384009" cy="47737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6000">
              <a:spcBef>
                <a:spcPts val="600"/>
              </a:spcBef>
            </a:pPr>
            <a:r>
              <a:rPr lang="ru-RU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Организация SMP имеет ряд потенциальных преимуществ по сравнению с однопроцессорной организацией, включая следующие.</a:t>
            </a:r>
          </a:p>
          <a:p>
            <a:pPr marL="321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Производительность. Если работа, которую должен выполнить компьютер, может быть организована таким образом, что некоторые ее части могут быть выполнены параллельно, то система с несколькими процессорами даст большую производительность, чем с одним процессором того же типа.</a:t>
            </a:r>
          </a:p>
          <a:p>
            <a:pPr marL="321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Надежность. В симметричной многопроцессорной системе, в которой все процессоры могут выполнять одни и те же функции, отказ одного процессора не останавливает машину. Вместо этого система может продолжать функционировать с пониженной производительностью.</a:t>
            </a:r>
          </a:p>
          <a:p>
            <a:pPr marL="321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Инкрементный рост. Пользователь может повысить производительность системы путем добавления дополнительного процессора.</a:t>
            </a:r>
          </a:p>
          <a:p>
            <a:pPr marL="321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Масштабирование. Поставщики могут предложить широкий спектр продуктов с различной ценой и производительностью, меняя количество процессоров, уста-</a:t>
            </a:r>
          </a:p>
          <a:p>
            <a:pPr algn="l"/>
            <a:endParaRPr lang="en-US" sz="1100" dirty="0">
              <a:latin typeface="Arial Black" panose="020B0A04020102020204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692727" y="2890220"/>
            <a:ext cx="4156364" cy="24273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22731" y="426322"/>
            <a:ext cx="10141527" cy="5817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000000"/>
                </a:solidFill>
              </a:rPr>
              <a:t>Определение</a:t>
            </a:r>
            <a:r>
              <a:rPr lang="en-US" sz="2800" b="1" dirty="0">
                <a:solidFill>
                  <a:srgbClr val="000000"/>
                </a:solidFill>
              </a:rPr>
              <a:t> </a:t>
            </a:r>
            <a:r>
              <a:rPr lang="en-US" sz="2800" b="1" dirty="0" err="1">
                <a:solidFill>
                  <a:srgbClr val="000000"/>
                </a:solidFill>
              </a:rPr>
              <a:t>ассимметричной</a:t>
            </a:r>
            <a:r>
              <a:rPr lang="en-US" sz="2800" b="1" dirty="0">
                <a:solidFill>
                  <a:srgbClr val="000000"/>
                </a:solidFill>
              </a:rPr>
              <a:t> </a:t>
            </a:r>
            <a:r>
              <a:rPr lang="en-US" sz="2800" b="1" dirty="0" err="1">
                <a:solidFill>
                  <a:srgbClr val="000000"/>
                </a:solidFill>
              </a:rPr>
              <a:t>многопроцессорности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224119" y="1151149"/>
            <a:ext cx="9368116" cy="51331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6000" indent="0">
              <a:spcBef>
                <a:spcPts val="600"/>
              </a:spcBef>
              <a:buNone/>
            </a:pPr>
            <a:r>
              <a:rPr lang="ru-RU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sz="24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Ассиметричная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многопроцессорность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— это модель </a:t>
            </a:r>
            <a:r>
              <a:rPr lang="en-US" sz="24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организации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вычислительного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процесса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при которой </a:t>
            </a:r>
            <a:r>
              <a:rPr lang="en-US" sz="24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один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процессор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выполняет роль ведущего, а </a:t>
            </a:r>
            <a:r>
              <a:rPr lang="en-US" sz="24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остальные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— </a:t>
            </a:r>
            <a:r>
              <a:rPr lang="en-US" sz="24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подчинённых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ru-RU" sz="24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6000">
              <a:spcBef>
                <a:spcPts val="600"/>
              </a:spcBef>
            </a:pPr>
            <a:r>
              <a:rPr lang="ru-RU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В </a:t>
            </a:r>
            <a:r>
              <a:rPr lang="en-US" sz="24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такой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системе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один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из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процессоров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sz="24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например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с </a:t>
            </a:r>
            <a:r>
              <a:rPr lang="en-US" sz="24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номером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0) </a:t>
            </a:r>
            <a:r>
              <a:rPr lang="en-US" sz="24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обычно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берёт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на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себя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основную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нагрузку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по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планированию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задач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и </a:t>
            </a:r>
            <a:r>
              <a:rPr lang="en-US" sz="24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управлению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ресурсами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в </a:t>
            </a:r>
            <a:r>
              <a:rPr lang="en-US" sz="24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то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время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как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остальные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процессоры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выполняют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специализированные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или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вспомогательные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функции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  <a:endParaRPr lang="ru-RU" sz="24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6000">
              <a:spcBef>
                <a:spcPts val="600"/>
              </a:spcBef>
            </a:pPr>
            <a:r>
              <a:rPr lang="ru-RU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sz="24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Эта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модель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может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быть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эффективна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в </a:t>
            </a:r>
            <a:r>
              <a:rPr lang="en-US" sz="24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системах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с </a:t>
            </a:r>
            <a:r>
              <a:rPr lang="en-US" sz="24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небольшим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количеством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процессоров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4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например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с </a:t>
            </a:r>
            <a:r>
              <a:rPr lang="en-US" sz="24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четырьмя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4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где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распределение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задач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и </a:t>
            </a:r>
            <a:r>
              <a:rPr lang="en-US" sz="24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оптимизация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нагрузки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могут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значительно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повысить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производительность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системы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36000" indent="0">
              <a:spcBef>
                <a:spcPts val="600"/>
              </a:spcBef>
              <a:buNone/>
            </a:pPr>
            <a:endParaRPr lang="en-US" sz="24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1454727" y="3241964"/>
            <a:ext cx="9975273" cy="14297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4696691" y="5818909"/>
            <a:ext cx="7481455" cy="4322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400" dirty="0"/>
          </a:p>
        </p:txBody>
      </p:sp>
      <p:sp>
        <p:nvSpPr>
          <p:cNvPr id="5" name="Text 1"/>
          <p:cNvSpPr/>
          <p:nvPr/>
        </p:nvSpPr>
        <p:spPr>
          <a:xfrm>
            <a:off x="430306" y="315975"/>
            <a:ext cx="5063392" cy="5817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err="1">
                <a:solidFill>
                  <a:srgbClr val="000000"/>
                </a:solidFill>
              </a:rPr>
              <a:t>Оптимизация</a:t>
            </a:r>
            <a:r>
              <a:rPr lang="en-US" sz="2200" b="1">
                <a:solidFill>
                  <a:srgbClr val="000000"/>
                </a:solidFill>
              </a:rPr>
              <a:t> производительности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680502" y="1404851"/>
            <a:ext cx="7298086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6000" indent="0">
              <a:spcBef>
                <a:spcPts val="60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sz="240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Оптимизация</a:t>
            </a:r>
            <a:r>
              <a:rPr lang="en-US" sz="24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производительности в многопроцессорных 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и </a:t>
            </a:r>
            <a:r>
              <a:rPr lang="en-US" sz="240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многоядерных</a:t>
            </a:r>
            <a:r>
              <a:rPr lang="en-US" sz="24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системах достигается </a:t>
            </a:r>
            <a:r>
              <a:rPr lang="en-US" sz="240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за</a:t>
            </a:r>
            <a:r>
              <a:rPr lang="en-US" sz="24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счёт распределения 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задач </a:t>
            </a:r>
            <a:r>
              <a:rPr lang="en-US" sz="24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между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ядрами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ru-RU" sz="24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6000">
              <a:spcBef>
                <a:spcPts val="600"/>
              </a:spcBef>
            </a:pP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sz="24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Например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40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при</a:t>
            </a:r>
            <a:r>
              <a:rPr lang="en-US" sz="24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использовании 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8 </a:t>
            </a:r>
            <a:r>
              <a:rPr lang="en-US" sz="240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ядер</a:t>
            </a:r>
            <a:r>
              <a:rPr lang="en-US" sz="24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система </a:t>
            </a:r>
            <a:r>
              <a:rPr lang="en-US" sz="24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может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обрабатывать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до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4 </a:t>
            </a:r>
            <a:r>
              <a:rPr lang="en-US" sz="24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раз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больше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операций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по</a:t>
            </a:r>
            <a:r>
              <a:rPr lang="en-US" sz="24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сравнению с </a:t>
            </a:r>
            <a:r>
              <a:rPr lang="en-US" sz="24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одноядерным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аналогом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4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что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подтверждено</a:t>
            </a:r>
            <a:r>
              <a:rPr lang="en-US" sz="24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тестами производительности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240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Для</a:t>
            </a:r>
            <a:r>
              <a:rPr lang="en-US" sz="24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достижения максимальной эффективности </a:t>
            </a:r>
            <a:r>
              <a:rPr lang="en-US" sz="24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важно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учитывать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алгоритмы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планирования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4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которые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могут</a:t>
            </a:r>
            <a:r>
              <a:rPr lang="en-US" sz="24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сократить </a:t>
            </a:r>
            <a:r>
              <a:rPr lang="en-US" sz="24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время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отклика</a:t>
            </a:r>
            <a:r>
              <a:rPr lang="en-US" sz="24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системы </a:t>
            </a:r>
            <a:r>
              <a:rPr lang="en-US" sz="24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на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20–30% </a:t>
            </a:r>
            <a:r>
              <a:rPr lang="en-US" sz="240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за</a:t>
            </a:r>
            <a:r>
              <a:rPr lang="en-US" sz="24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счёт </a:t>
            </a:r>
            <a:r>
              <a:rPr lang="en-US" sz="24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оптимизации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порядка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выполнения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задач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indent="0" algn="l">
              <a:buNone/>
            </a:pP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680502" y="2593572"/>
            <a:ext cx="5818909" cy="19285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87685" y="3113723"/>
            <a:ext cx="10141528" cy="7813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 err="1">
                <a:solidFill>
                  <a:srgbClr val="000000"/>
                </a:solidFill>
              </a:rPr>
              <a:t>Спасибо</a:t>
            </a:r>
            <a:r>
              <a:rPr lang="en-US" sz="4800" b="1" dirty="0">
                <a:solidFill>
                  <a:srgbClr val="000000"/>
                </a:solidFill>
              </a:rPr>
              <a:t> за внимание!</a:t>
            </a: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1246909" y="3325091"/>
            <a:ext cx="9975273" cy="14297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Аспект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122</TotalTime>
  <Words>561</Words>
  <Application>Microsoft Office PowerPoint</Application>
  <PresentationFormat>Широкоэкранный</PresentationFormat>
  <Paragraphs>41</Paragraphs>
  <Slides>8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4" baseType="lpstr">
      <vt:lpstr>Arial</vt:lpstr>
      <vt:lpstr>Arial Black</vt:lpstr>
      <vt:lpstr>Calibri</vt:lpstr>
      <vt:lpstr>Trebuchet MS</vt:lpstr>
      <vt:lpstr>Wingdings 3</vt:lpstr>
      <vt:lpstr>Аспект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Дмитрий Ф.</cp:lastModifiedBy>
  <cp:revision>14</cp:revision>
  <dcterms:created xsi:type="dcterms:W3CDTF">2026-04-19T14:05:16Z</dcterms:created>
  <dcterms:modified xsi:type="dcterms:W3CDTF">2026-04-21T18:00:48Z</dcterms:modified>
</cp:coreProperties>
</file>